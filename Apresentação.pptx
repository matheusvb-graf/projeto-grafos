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BC4871-E1BD-46FA-B6F1-548B94E4D58F}">
  <a:tblStyle styleId="{ADBC4871-E1BD-46FA-B6F1-548B94E4D5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fee65fbd9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g3efee65fbd9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efee65fbd9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fee65fbd9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fee65fbd9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efee65fbd9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fee65fbd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fee65fbd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efee65fbd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fee65fbd9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efee65fbd9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efee65fbd9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fee65fbd9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efee65fbd9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efee65fbd9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fee65fbd9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efee65fbd9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efee65fbd9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fee65fbd9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efee65fbd9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fee65fbd9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fee65fbd9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fee65fbd9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efee65fbd9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fee65fbd9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fee65fbd9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efee65fbd9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fee65fbd9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fee65fbd9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efee65fbd9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B7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822960" cy="5143500"/>
          </a:xfrm>
          <a:prstGeom prst="rect">
            <a:avLst/>
          </a:prstGeom>
          <a:solidFill>
            <a:srgbClr val="9BB5B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188720" y="502920"/>
            <a:ext cx="6766560" cy="4114800"/>
          </a:xfrm>
          <a:prstGeom prst="roundRect">
            <a:avLst>
              <a:gd fmla="val 17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88720" y="502920"/>
            <a:ext cx="6766560" cy="1005840"/>
          </a:xfrm>
          <a:prstGeom prst="roundRect">
            <a:avLst>
              <a:gd fmla="val 7273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188720" y="914400"/>
            <a:ext cx="676656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371600" y="566928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do Mercado de Fundos 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Investimento Imobiliário (FIIs)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88720" y="1508760"/>
            <a:ext cx="676656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926080" y="164592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2024013821 – Brayan Justiniano de Oliveira Cosme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2025002733 – Caio Sano Veiga 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2025011788 – Clara Gonçalves dos Santos 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2025013174 – Gabriel Bueno de Camargo 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2024010768 – Matheus de Vilas Boas Leandro 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371600" y="324612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CMAC03 – Algoritmos em Grafos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Prof. Rafael Frinhani  |  UNIFEI –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 rot="-5400000">
            <a:off x="-1966035" y="1920210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CIÊNCIA DA COMPUTAÇÃO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4480560"/>
            <a:ext cx="822960" cy="66294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45262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8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4736763" y="2544525"/>
            <a:ext cx="4005600" cy="86850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3" name="Google Shape;33;p4"/>
          <p:cNvSpPr/>
          <p:nvPr/>
        </p:nvSpPr>
        <p:spPr>
          <a:xfrm>
            <a:off x="4736763" y="1485050"/>
            <a:ext cx="4005600" cy="86850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4" name="Google Shape;34;p4"/>
          <p:cNvSpPr/>
          <p:nvPr/>
        </p:nvSpPr>
        <p:spPr>
          <a:xfrm>
            <a:off x="2605088" y="3701975"/>
            <a:ext cx="4005600" cy="86850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" name="Google Shape;35;p4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01638" y="1485037"/>
            <a:ext cx="4005600" cy="86850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7" name="Google Shape;37;p4"/>
          <p:cNvSpPr/>
          <p:nvPr/>
        </p:nvSpPr>
        <p:spPr>
          <a:xfrm>
            <a:off x="457200" y="0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Atribuições do Grupo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39987" y="1576463"/>
            <a:ext cx="292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100"/>
              <a:buFont typeface="Calibri"/>
              <a:buNone/>
            </a:pPr>
            <a:r>
              <a:rPr b="1" lang="en-US" sz="1300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 Brayan Justiniano de Oliveira Cosme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04363" y="1942213"/>
            <a:ext cx="2234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Coordenador do Projeto e Integração 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29462" y="3786163"/>
            <a:ext cx="197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100"/>
              <a:buFont typeface="Calibri"/>
              <a:buNone/>
            </a:pPr>
            <a:r>
              <a:rPr b="1" lang="en-US" sz="1300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Clara Gonçalves dos Santos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29488" y="4133563"/>
            <a:ext cx="12519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Arquiteto da Solução 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816015" y="1576463"/>
            <a:ext cx="1847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100"/>
              <a:buFont typeface="Calibri"/>
              <a:buNone/>
            </a:pPr>
            <a:r>
              <a:rPr b="1" lang="en-US" sz="1300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Gabriel Bueno de Camargo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816013" y="1942213"/>
            <a:ext cx="707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Modelador 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683413" y="2690813"/>
            <a:ext cx="2234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100"/>
              <a:buFont typeface="Calibri"/>
              <a:buNone/>
            </a:pPr>
            <a:r>
              <a:rPr b="1" lang="en-US" sz="1300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Matheus de Vilas Boas Leandro </a:t>
            </a:r>
            <a:endParaRPr b="1" sz="1300">
              <a:solidFill>
                <a:srgbClr val="2E3D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683413" y="3004963"/>
            <a:ext cx="29289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Desenvolvedor do Protótipo e Experimentos 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01638" y="2509937"/>
            <a:ext cx="4005600" cy="868500"/>
          </a:xfrm>
          <a:prstGeom prst="roundRect">
            <a:avLst>
              <a:gd fmla="val 1186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7" name="Google Shape;47;p4"/>
          <p:cNvSpPr/>
          <p:nvPr/>
        </p:nvSpPr>
        <p:spPr>
          <a:xfrm>
            <a:off x="1258894" y="2639213"/>
            <a:ext cx="1083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100"/>
              <a:buFont typeface="Calibri"/>
              <a:buNone/>
            </a:pPr>
            <a:r>
              <a:rPr b="1" lang="en-US" sz="1300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Caio Sano Veiga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258888" y="3004963"/>
            <a:ext cx="2370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Analista do Problema e do Domínio 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65760" y="1234440"/>
            <a:ext cx="411480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75488" y="1490472"/>
            <a:ext cx="502920" cy="5029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75488" y="14904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51560" y="13258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Introdução &amp; Objetivos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51560" y="1691640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Contexto, motivação e metas do projeto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65760" y="2468880"/>
            <a:ext cx="411480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75488" y="2724912"/>
            <a:ext cx="502920" cy="5029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75488" y="2724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051560" y="256032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Fundamentos de FIIs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051560" y="2926080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Características, segmentos e retornos diários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" y="3703320"/>
            <a:ext cx="411480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75488" y="3959352"/>
            <a:ext cx="502920" cy="5029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75488" y="3959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051560" y="379476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Referencial Teórico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051560" y="4160520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Teoria dos Grafos, Pearson, Redes Temporais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754880" y="1234440"/>
            <a:ext cx="411480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864608" y="1490472"/>
            <a:ext cx="502920" cy="5029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864608" y="14904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40680" y="13258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Algoritmos Aplicados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440680" y="1691640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DFS, Dijkstra, Kruskal (MST), Centralidade de Grau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754880" y="2468880"/>
            <a:ext cx="411480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864608" y="2724912"/>
            <a:ext cx="502920" cy="5029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864608" y="2724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40680" y="256032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Implementação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40680" y="2926080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Dataset, arquitetura do protótipo e GitHub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754880" y="3703320"/>
            <a:ext cx="411480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864608" y="3959352"/>
            <a:ext cx="502920" cy="5029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864608" y="3959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440680" y="379476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Resultados &amp; Conclusões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440680" y="4160520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Análise evolutiva 2023–2024–2025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Introdução &amp; Objetivos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20040" y="1143000"/>
            <a:ext cx="393192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02920" y="12344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2920" y="1572768"/>
            <a:ext cx="356616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502920" y="1664208"/>
            <a:ext cx="35661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O mercado de FIIs caracteriza-se por um ambiente complexo e dinâmico, onde ativos apresentam comportamentos correlacionados em resposta às oscilações da economia.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Compreender a topologia dessas relações é fundamental para otimização de carteiras e mitigação de riscos.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A Teoria dos Grafos representa os FIIs como nós de uma rede e as correlações entre seus retornos como arestas — permitindo extrair padrões estruturais não perceptíveis por análises estatísticas tradicionais.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26280" y="1143000"/>
            <a:ext cx="429768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709160" y="1234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709160" y="1572768"/>
            <a:ext cx="393192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709160" y="1810512"/>
            <a:ext cx="274320" cy="2743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709160" y="18105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074920" y="17373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Construir matrizes de adjacência a partir do histórico de cotações diárias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709160" y="2432304"/>
            <a:ext cx="274320" cy="2743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709160" y="24323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074920" y="2359152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Extrair a MST via Kruskal — espinha dorsal do mercado, livre de ciclos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709160" y="3054096"/>
            <a:ext cx="274320" cy="2743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709160" y="305409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074920" y="2980944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Calcular o caminho de maior similaridade entre ativos com Dijkstra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709160" y="3675888"/>
            <a:ext cx="274320" cy="2743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709160" y="36758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74920" y="3602736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Analisar importância dos fundos via Centralidade de Grau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709160" y="4297680"/>
            <a:ext cx="274320" cy="2743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709160" y="42976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074920" y="4224528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Implementar DFS para rastrear propagação de conectividade na rede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Fundos de Investimento Imobiliário (FIIs)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20040" y="1143000"/>
            <a:ext cx="1920240" cy="1005840"/>
          </a:xfrm>
          <a:prstGeom prst="roundRect">
            <a:avLst>
              <a:gd fmla="val 636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886968" y="120700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Liquidez Diária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886968" y="1490472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Cotas negociadas na B3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468880" y="1143000"/>
            <a:ext cx="1920240" cy="1005840"/>
          </a:xfrm>
          <a:prstGeom prst="roundRect">
            <a:avLst>
              <a:gd fmla="val 636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604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3035808" y="120700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Renda Passiva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3035808" y="1490472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≥ 95% do lucro distribuído semestralmente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617720" y="1143000"/>
            <a:ext cx="1920240" cy="1005840"/>
          </a:xfrm>
          <a:prstGeom prst="roundRect">
            <a:avLst>
              <a:gd fmla="val 636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5184648" y="120700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Isenção IR (PF)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184648" y="1490472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Rendimentos isentos para pessoas físicas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766560" y="1143000"/>
            <a:ext cx="1920240" cy="1005840"/>
          </a:xfrm>
          <a:prstGeom prst="roundRect">
            <a:avLst>
              <a:gd fmla="val 636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0372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7333488" y="120700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Acessibilidade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333488" y="1490472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Cotas a partir de poucos reais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20040" y="2331720"/>
            <a:ext cx="1554480" cy="2423160"/>
          </a:xfrm>
          <a:prstGeom prst="roundRect">
            <a:avLst>
              <a:gd fmla="val 5882" name="adj"/>
            </a:avLst>
          </a:prstGeom>
          <a:solidFill>
            <a:srgbClr val="006B77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320040" y="23774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Tijolo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20040" y="2990088"/>
            <a:ext cx="1554480" cy="2743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393192" y="3063240"/>
            <a:ext cx="140817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Galpões, centros de distribuição. Ex: HGLG11, XPLG11, BTLG11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029968" y="2331720"/>
            <a:ext cx="1554480" cy="2423160"/>
          </a:xfrm>
          <a:prstGeom prst="roundRect">
            <a:avLst>
              <a:gd fmla="val 5882" name="adj"/>
            </a:avLst>
          </a:prstGeom>
          <a:solidFill>
            <a:srgbClr val="028090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2029968" y="23774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Tijolo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Shoppings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029968" y="2990088"/>
            <a:ext cx="1554480" cy="2743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2103120" y="3063240"/>
            <a:ext cx="140817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Shoppings centers. Ex: XPML11, VISC11, HGBS11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739896" y="2331720"/>
            <a:ext cx="1554480" cy="2423160"/>
          </a:xfrm>
          <a:prstGeom prst="roundRect">
            <a:avLst>
              <a:gd fmla="val 5882" name="adj"/>
            </a:avLst>
          </a:prstGeom>
          <a:solidFill>
            <a:srgbClr val="00A896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739896" y="23774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Tijolo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Escritórios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739896" y="2990088"/>
            <a:ext cx="1554480" cy="2743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3813048" y="3063240"/>
            <a:ext cx="140817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Lajes corporativas. Ex: HGRE11, BRCR11, PVBI11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449824" y="2331720"/>
            <a:ext cx="1554480" cy="2423160"/>
          </a:xfrm>
          <a:prstGeom prst="roundRect">
            <a:avLst>
              <a:gd fmla="val 5882" name="adj"/>
            </a:avLst>
          </a:prstGeom>
          <a:solidFill>
            <a:srgbClr val="2E7D8C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5449824" y="23774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449824" y="2990088"/>
            <a:ext cx="1554480" cy="2743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5522976" y="3063240"/>
            <a:ext cx="140817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 e LCIs. Ex: KNCR11, MXRF11, VRTA11, IRDM11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159752" y="2331720"/>
            <a:ext cx="1554480" cy="2423160"/>
          </a:xfrm>
          <a:prstGeom prst="roundRect">
            <a:avLst>
              <a:gd fmla="val 5882" name="adj"/>
            </a:avLst>
          </a:prstGeom>
          <a:solidFill>
            <a:srgbClr val="9BB5B8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159752" y="23774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FoF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Desenv.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159752" y="2990088"/>
            <a:ext cx="1554480" cy="27432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7232904" y="3063240"/>
            <a:ext cx="140817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Fundos de fundos e incorporação. Ex: XPSF11, TGAR11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8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Modelagem com Teoria dos Grafos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20040" y="1188720"/>
            <a:ext cx="49377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320040" y="1188720"/>
            <a:ext cx="73152" cy="7498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75488" y="12435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Vértice  v_i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75488" y="15544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Cada FII representa um nó do grafo G = (V, 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20040" y="2103120"/>
            <a:ext cx="49377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20040" y="2103120"/>
            <a:ext cx="73152" cy="7498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75488" y="21579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Aresta  e_ij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75488" y="24688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Criada quando r(i,j) ≥ θ = 0,3  (correlação de Pearson — Pearson, 1895)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20040" y="3017520"/>
            <a:ext cx="49377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20040" y="3017520"/>
            <a:ext cx="73152" cy="7498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75488" y="30723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Peso  d(i,j)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75488" y="33832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d = 1 − r(i,j)  — proposto por Mantegna (1999) — intervalo [0, 2]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20040" y="3931920"/>
            <a:ext cx="4937760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20040" y="3931920"/>
            <a:ext cx="73152" cy="7498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75488" y="398678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Grafo G=(V,E)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75488" y="42976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Não dirigido, ponderado, simétrico. Representado por matriz de adjacência A n×n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577840" y="1188720"/>
            <a:ext cx="32461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669280" y="12344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Exemplos de distância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8"/>
          <p:cNvGraphicFramePr/>
          <p:nvPr/>
        </p:nvGraphicFramePr>
        <p:xfrm>
          <a:off x="566928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{ADBC4871-E1BD-46FA-B6F1-548B94E4D58F}</a:tableStyleId>
              </a:tblPr>
              <a:tblGrid>
                <a:gridCol w="1021075"/>
                <a:gridCol w="1021075"/>
                <a:gridCol w="102107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r(i,j)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d(i,j)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Interpretação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= 0,83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 = 0,17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Muito próximos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= 0,45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 = 0,55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Distância média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= 0,10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 = 0,90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Muito distantes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8"/>
          <p:cNvSpPr/>
          <p:nvPr/>
        </p:nvSpPr>
        <p:spPr>
          <a:xfrm>
            <a:off x="5577840" y="3154680"/>
            <a:ext cx="324612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5669280" y="3218688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Redes Temporais — Onnela et al. (2003)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669280" y="3611880"/>
            <a:ext cx="3063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Um grafo independente por janela anual (2023, 2024 e 2025), permitindo analisar a evolução estrutural do mercado e o impacto de eventos macroeconômicos como variações da taxa Selic.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8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Algoritmos Aplicados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20040" y="118872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84632" y="1389888"/>
            <a:ext cx="731520" cy="7315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72" y="14813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1325880" y="12801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DFS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325880" y="1682496"/>
            <a:ext cx="1737360" cy="274320"/>
          </a:xfrm>
          <a:prstGeom prst="roundRect">
            <a:avLst>
              <a:gd fmla="val 13333" name="adj"/>
            </a:avLst>
          </a:prstGeom>
          <a:solidFill>
            <a:srgbClr val="00A896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1325880" y="168249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ourier New"/>
                <a:ea typeface="Courier New"/>
                <a:cs typeface="Courier New"/>
                <a:sym typeface="Courier New"/>
              </a:rPr>
              <a:t>O(V+E)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57200" y="207568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Identifica componentes conexas percorrendo recursivamente os vértices. Revela grupos isolados de FIIs.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709160" y="118872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873752" y="1389888"/>
            <a:ext cx="731520" cy="7315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5192" y="14813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5715000" y="12801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Dijkstra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715000" y="1682496"/>
            <a:ext cx="1737360" cy="274320"/>
          </a:xfrm>
          <a:prstGeom prst="roundRect">
            <a:avLst>
              <a:gd fmla="val 13333" name="adj"/>
            </a:avLst>
          </a:prstGeom>
          <a:solidFill>
            <a:srgbClr val="00A896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5715000" y="168249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ourier New"/>
                <a:ea typeface="Courier New"/>
                <a:cs typeface="Courier New"/>
                <a:sym typeface="Courier New"/>
              </a:rPr>
              <a:t>O(</a:t>
            </a:r>
            <a:r>
              <a:rPr lang="en-US" sz="1000">
                <a:solidFill>
                  <a:srgbClr val="2E3D40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0" i="0" lang="en-US" sz="1000" u="none" cap="none" strike="noStrike">
                <a:solidFill>
                  <a:srgbClr val="2E3D40"/>
                </a:solidFill>
                <a:latin typeface="Courier New"/>
                <a:ea typeface="Courier New"/>
                <a:cs typeface="Courier New"/>
                <a:sym typeface="Courier New"/>
              </a:rPr>
              <a:t>²)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846320" y="207568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Caminho mínimo via relaxamento de arestas. Peso d(i,j)=1−r(i,j). Inclui reconstrução do caminho (Dijkstra, 1959).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320040" y="306324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84632" y="3264408"/>
            <a:ext cx="731520" cy="7315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072" y="33558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/>
          <p:nvPr/>
        </p:nvSpPr>
        <p:spPr>
          <a:xfrm>
            <a:off x="1325880" y="3154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Kruskal / MST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325880" y="3557016"/>
            <a:ext cx="1737360" cy="274320"/>
          </a:xfrm>
          <a:prstGeom prst="roundRect">
            <a:avLst>
              <a:gd fmla="val 13333" name="adj"/>
            </a:avLst>
          </a:prstGeom>
          <a:solidFill>
            <a:srgbClr val="00A896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1325880" y="355701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ourier New"/>
                <a:ea typeface="Courier New"/>
                <a:cs typeface="Courier New"/>
                <a:sym typeface="Courier New"/>
              </a:rPr>
              <a:t>O(E log 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57200" y="395020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Espinha dorsal do mercado livre de ciclos. Ordena arestas e usa Union-Find para evitar ciclos (Kruskal, 1956).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709160" y="306324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873752" y="3264408"/>
            <a:ext cx="731520" cy="731520"/>
          </a:xfrm>
          <a:prstGeom prst="ellipse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5192" y="33558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5715000" y="3154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Centralidade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de Grau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715000" y="3557016"/>
            <a:ext cx="1737360" cy="274320"/>
          </a:xfrm>
          <a:prstGeom prst="roundRect">
            <a:avLst>
              <a:gd fmla="val 13333" name="adj"/>
            </a:avLst>
          </a:prstGeom>
          <a:solidFill>
            <a:srgbClr val="00A896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5715000" y="3557016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ourier New"/>
                <a:ea typeface="Courier New"/>
                <a:cs typeface="Courier New"/>
                <a:sym typeface="Courier New"/>
              </a:rPr>
              <a:t>grau(v) = |viz(v)|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846320" y="395020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Conta conexões diretas de cada FII. Gera ranking dos fundos mais influentes na rede por janela anual.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8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Implementação — Dataset &amp; Arquitetura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20040" y="1143000"/>
            <a:ext cx="4114800" cy="36576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502920" y="121615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Dataset — 50 FIIs (B3)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502920" y="1554480"/>
            <a:ext cx="374904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475488" y="1755648"/>
            <a:ext cx="164592" cy="256032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713232" y="1700784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Tijolo — Logística (10)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13232" y="19202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HGLG11, XPLG11, BTLG11, VILG11, BRCO11...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75488" y="2231136"/>
            <a:ext cx="164592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713232" y="217627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Tijolo — Shoppings (6)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13232" y="23957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XPML11, VISC11, PMLL11, HGBS11, HSML11...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75488" y="2706624"/>
            <a:ext cx="164592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713232" y="265176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Tijolo — Escritórios (7)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713232" y="287121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HGRE11, BRCR11, RCRB11, PVBI11, VINO11...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475488" y="3182112"/>
            <a:ext cx="164592" cy="256032"/>
          </a:xfrm>
          <a:prstGeom prst="rect">
            <a:avLst/>
          </a:prstGeom>
          <a:solidFill>
            <a:srgbClr val="2E7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713232" y="3127248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Tijolo — Diversificado (5)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713232" y="3346704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KNRI11, HGRU11, AGCX11, BBPO11, ALZR11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75488" y="3657600"/>
            <a:ext cx="164592" cy="256032"/>
          </a:xfrm>
          <a:prstGeom prst="rect">
            <a:avLst/>
          </a:prstGeom>
          <a:solidFill>
            <a:srgbClr val="9BB5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713232" y="360273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Papel — Recebíveis (19)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713232" y="382219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KNCR11, MXRF11, KNIP11, VRTA11, IRDM11...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75488" y="4133088"/>
            <a:ext cx="164592" cy="256032"/>
          </a:xfrm>
          <a:prstGeom prst="rect">
            <a:avLst/>
          </a:prstGeom>
          <a:solidFill>
            <a:srgbClr val="5A8A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713232" y="4078224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FoF (2) + Desenvolv. (1)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13232" y="429768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XPSF11, HFOF11, TGAR11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663440" y="1143000"/>
            <a:ext cx="4160520" cy="1920240"/>
          </a:xfrm>
          <a:prstGeom prst="roundRect">
            <a:avLst>
              <a:gd fmla="val 3810" name="adj"/>
            </a:avLst>
          </a:prstGeom>
          <a:solidFill>
            <a:srgbClr val="1E2D30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846320" y="1207008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Arquitetura do Protótipo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773168" y="1527048"/>
            <a:ext cx="3931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D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DC"/>
                </a:solidFill>
                <a:latin typeface="Courier New"/>
                <a:ea typeface="Courier New"/>
                <a:cs typeface="Courier New"/>
                <a:sym typeface="Courier New"/>
              </a:rPr>
              <a:t>Python · pandas · numpy · matplotlib · networkx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D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DC"/>
                </a:solidFill>
                <a:latin typeface="Courier New"/>
                <a:ea typeface="Courier New"/>
                <a:cs typeface="Courier New"/>
                <a:sym typeface="Courier New"/>
              </a:rPr>
              <a:t>  Classe Grafo        — topologia, pesos d(i,j)=1−r(i,j)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D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DC"/>
                </a:solidFill>
                <a:latin typeface="Courier New"/>
                <a:ea typeface="Courier New"/>
                <a:cs typeface="Courier New"/>
                <a:sym typeface="Courier New"/>
              </a:rPr>
              <a:t>  Classe GrafoTemp    — gerencia janelas 2023/2024/2025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D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DC"/>
                </a:solidFill>
                <a:latin typeface="Courier New"/>
                <a:ea typeface="Courier New"/>
                <a:cs typeface="Courier New"/>
                <a:sym typeface="Courier New"/>
              </a:rPr>
              <a:t>  algoritmos.py       — DFS, Dijkstra, Kruskal, Grau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DC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A8D8D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(implementação própria do grupo)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663440" y="3200400"/>
            <a:ext cx="416052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846320" y="3273552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Pipeline de Processamento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828032" y="3657600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5047488" y="3630168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Coleta via yfinance (01/01/2023 – 31/12/2025)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828032" y="3877056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5047488" y="3849624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Filtro: descarta FIIs com &gt; 20% dados faltantes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828032" y="4096512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5047488" y="406908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Correlação de Pearson por janela anual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828032" y="4315968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5047488" y="4288536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Grafo: aresta se r(i,j) ≥ LIMIAR (θ = 0,3)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828032" y="4535424"/>
            <a:ext cx="164592" cy="16459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5047488" y="4507992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DFS → Dijkstra → Kruskal → Grau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20040" y="4864608"/>
            <a:ext cx="8503920" cy="210312"/>
          </a:xfrm>
          <a:prstGeom prst="roundRect">
            <a:avLst>
              <a:gd fmla="val 17391" name="adj"/>
            </a:avLst>
          </a:prstGeom>
          <a:solidFill>
            <a:srgbClr val="006B77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882896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"/>
          <p:cNvSpPr/>
          <p:nvPr/>
        </p:nvSpPr>
        <p:spPr>
          <a:xfrm>
            <a:off x="658368" y="4864608"/>
            <a:ext cx="80467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github.com/MatheusVB-Graf/Projeto-Grafos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8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— Conectividade (DFS)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320040" y="1143000"/>
            <a:ext cx="2651760" cy="502920"/>
          </a:xfrm>
          <a:prstGeom prst="roundRect">
            <a:avLst>
              <a:gd fmla="val 12727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320040" y="11430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20040" y="1719072"/>
            <a:ext cx="2651760" cy="3017520"/>
          </a:xfrm>
          <a:prstGeom prst="roundRect">
            <a:avLst>
              <a:gd fmla="val 241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1188720" y="1828800"/>
            <a:ext cx="914400" cy="9144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1188720" y="18288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320040" y="2816352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conexos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57200" y="3273552"/>
            <a:ext cx="2377440" cy="27432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429768" y="3337560"/>
            <a:ext cx="24323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Rede fortemente fragmentada.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Apenas 2 grupos: {KNIP11+KNHY11} e {IRDM11+HCTR11+RECR11}.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Todos os demais fundos permaneceram isolados.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40080" y="4407408"/>
            <a:ext cx="2011680" cy="256032"/>
          </a:xfrm>
          <a:prstGeom prst="roundRect">
            <a:avLst>
              <a:gd fmla="val 14286" name="adj"/>
            </a:avLst>
          </a:prstGeom>
          <a:solidFill>
            <a:srgbClr val="C0392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640080" y="44074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Baixa integração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3200400" y="1143000"/>
            <a:ext cx="2651760" cy="502920"/>
          </a:xfrm>
          <a:prstGeom prst="roundRect">
            <a:avLst>
              <a:gd fmla="val 12727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3200400" y="11430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200400" y="1719072"/>
            <a:ext cx="2651760" cy="3017520"/>
          </a:xfrm>
          <a:prstGeom prst="roundRect">
            <a:avLst>
              <a:gd fmla="val 241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4069080" y="1828800"/>
            <a:ext cx="914400" cy="9144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069080" y="18288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3200400" y="2816352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conexos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337560" y="3273552"/>
            <a:ext cx="2377440" cy="27432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3310128" y="3337560"/>
            <a:ext cx="24323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Grande integração do mercado.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Um componente principal reuniu quase todos os fundos.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4 isolados: HGPO11, AGCX11, BBPO11 e CPTS11.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3520440" y="4407408"/>
            <a:ext cx="2011680" cy="256032"/>
          </a:xfrm>
          <a:prstGeom prst="roundRect">
            <a:avLst>
              <a:gd fmla="val 14286" name="adj"/>
            </a:avLst>
          </a:prstGeom>
          <a:solidFill>
            <a:srgbClr val="27AE6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3520440" y="44074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A7A40"/>
                </a:solidFill>
                <a:latin typeface="Calibri"/>
                <a:ea typeface="Calibri"/>
                <a:cs typeface="Calibri"/>
                <a:sym typeface="Calibri"/>
              </a:rPr>
              <a:t>Alta integração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080760" y="1143000"/>
            <a:ext cx="2651760" cy="502920"/>
          </a:xfrm>
          <a:prstGeom prst="roundRect">
            <a:avLst>
              <a:gd fmla="val 12727" name="adj"/>
            </a:avLst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6080760" y="11430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080760" y="1719072"/>
            <a:ext cx="2651760" cy="3017520"/>
          </a:xfrm>
          <a:prstGeom prst="roundRect">
            <a:avLst>
              <a:gd fmla="val 241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949440" y="1828800"/>
            <a:ext cx="914400" cy="9144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6949440" y="18288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080760" y="2816352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D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C9DA0"/>
                </a:solidFill>
                <a:latin typeface="Calibri"/>
                <a:ea typeface="Calibri"/>
                <a:cs typeface="Calibri"/>
                <a:sym typeface="Calibri"/>
              </a:rPr>
              <a:t>conexos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217920" y="3273552"/>
            <a:ext cx="2377440" cy="27432"/>
          </a:xfrm>
          <a:prstGeom prst="rect">
            <a:avLst/>
          </a:prstGeom>
          <a:solidFill>
            <a:srgbClr val="F4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190488" y="3337560"/>
            <a:ext cx="24323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Reorganização parcial da rede.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Componente principal ainda concentra maioria dos ativos, mas vários fundos voltaram a se isolar ou formar grupos menores.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400800" y="4407408"/>
            <a:ext cx="2011680" cy="256032"/>
          </a:xfrm>
          <a:prstGeom prst="roundRect">
            <a:avLst>
              <a:gd fmla="val 14286" name="adj"/>
            </a:avLst>
          </a:prstGeom>
          <a:solidFill>
            <a:srgbClr val="E67E2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6400800" y="44074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540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A0540E"/>
                </a:solidFill>
                <a:latin typeface="Calibri"/>
                <a:ea typeface="Calibri"/>
                <a:cs typeface="Calibri"/>
                <a:sym typeface="Calibri"/>
              </a:rPr>
              <a:t>Integração moderada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8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— Dijkstra &amp; Kruskal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320040" y="1143000"/>
            <a:ext cx="4206240" cy="36576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502920" y="12161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Dijkstra — GGRC11 → HSML11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502920" y="1554480"/>
            <a:ext cx="384048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5" name="Google Shape;315;p12"/>
          <p:cNvGraphicFramePr/>
          <p:nvPr/>
        </p:nvGraphicFramePr>
        <p:xfrm>
          <a:off x="45720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{ADBC4871-E1BD-46FA-B6F1-548B94E4D58F}</a:tableStyleId>
              </a:tblPr>
              <a:tblGrid>
                <a:gridCol w="1310650"/>
                <a:gridCol w="1310650"/>
                <a:gridCol w="1310650"/>
              </a:tblGrid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Caminho / Resultado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 caminho (componentes distintos)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GGRC11 → HSML11  (r ≈ 0,31)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1,82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GGRC11 → HGLG11 → HGBS11 → HSML11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6" name="Google Shape;316;p12"/>
          <p:cNvSpPr/>
          <p:nvPr/>
        </p:nvSpPr>
        <p:spPr>
          <a:xfrm>
            <a:off x="457125" y="3505151"/>
            <a:ext cx="39321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Em 2023 os fundos estavam em componentes distintos — sem caminho possível. Em 2024 a conexão ficou direta (r ≈ 0,31). Em 2025 foram necessários dois intermediários (HGLG11 e HGBS11), refletindo a reorganização da rede.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754880" y="1143000"/>
            <a:ext cx="4069080" cy="36576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4937760" y="121615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Kruskal — Árvore Geradora Mínima (MST)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937760" y="1554480"/>
            <a:ext cx="370332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4919472" y="1691640"/>
            <a:ext cx="3703320" cy="868680"/>
          </a:xfrm>
          <a:prstGeom prst="roundRect">
            <a:avLst>
              <a:gd fmla="val 6316" name="adj"/>
            </a:avLst>
          </a:prstGeom>
          <a:solidFill>
            <a:srgbClr val="F4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4919472" y="1691640"/>
            <a:ext cx="640080" cy="868680"/>
          </a:xfrm>
          <a:prstGeom prst="roundRect">
            <a:avLst>
              <a:gd fmla="val 8571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4919472" y="1764792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919472" y="214884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custo: 2,00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5614416" y="178308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Floresta geradora mínima (rede fragmentada). Apenas 2 grupos conectados preservados.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919472" y="2697480"/>
            <a:ext cx="3703320" cy="868680"/>
          </a:xfrm>
          <a:prstGeom prst="roundRect">
            <a:avLst>
              <a:gd fmla="val 6316" name="adj"/>
            </a:avLst>
          </a:prstGeom>
          <a:solidFill>
            <a:srgbClr val="F4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4919472" y="2697480"/>
            <a:ext cx="640080" cy="868680"/>
          </a:xfrm>
          <a:prstGeom prst="roundRect">
            <a:avLst>
              <a:gd fmla="val 8571" name="adj"/>
            </a:avLst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4919472" y="2770632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4919472" y="315468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custo: 23,43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5614416" y="278892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Uma única MST cobrindo quase todos os ativos. Fundos de segmentos similares permanecem próximos.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4919472" y="3703320"/>
            <a:ext cx="3703320" cy="868680"/>
          </a:xfrm>
          <a:prstGeom prst="roundRect">
            <a:avLst>
              <a:gd fmla="val 6316" name="adj"/>
            </a:avLst>
          </a:prstGeom>
          <a:solidFill>
            <a:srgbClr val="F4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4919472" y="3703320"/>
            <a:ext cx="640080" cy="868680"/>
          </a:xfrm>
          <a:prstGeom prst="roundRect">
            <a:avLst>
              <a:gd fmla="val 8571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4919472" y="3776472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919472" y="416052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custo: 21,79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614416" y="379476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Retorno à fragmentação parcial. Componente principal ainda presente, mas grupos menores se separaram.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8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Resultados — Centralidade de Grau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320040" y="1143000"/>
            <a:ext cx="850392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502920" y="121615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Top 5 FIIs por centralidade de grau em cada período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4" name="Google Shape;344;p13"/>
          <p:cNvGraphicFramePr/>
          <p:nvPr/>
        </p:nvGraphicFramePr>
        <p:xfrm>
          <a:off x="457200" y="1572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{ADBC4871-E1BD-46FA-B6F1-548B94E4D58F}</a:tableStyleId>
              </a:tblPr>
              <a:tblGrid>
                <a:gridCol w="1175650"/>
                <a:gridCol w="1175650"/>
                <a:gridCol w="1175650"/>
                <a:gridCol w="1175650"/>
                <a:gridCol w="1175650"/>
                <a:gridCol w="1175650"/>
                <a:gridCol w="11756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Pos.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 — FII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Grau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 — FII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Grau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 — FII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Grau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B77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1º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HCTR11.SA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VRTA11.SA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VISC11.SA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2º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IRDM11.SA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HGRE11.SA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XPLG11.SA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3º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RECR11.SA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RECR11.SA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KNRI11.SA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4º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KNIP11.SA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XPSF11.SA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HGLG11.SA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5º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KNHY11.SA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KNCR11.SA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HGRE11.SA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3D4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2E3D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E4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" name="Google Shape;345;p13"/>
          <p:cNvSpPr/>
          <p:nvPr/>
        </p:nvSpPr>
        <p:spPr>
          <a:xfrm>
            <a:off x="320040" y="3657600"/>
            <a:ext cx="2651760" cy="1188720"/>
          </a:xfrm>
          <a:prstGeom prst="roundRect">
            <a:avLst>
              <a:gd fmla="val 538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320040" y="3657600"/>
            <a:ext cx="2651760" cy="320040"/>
          </a:xfrm>
          <a:prstGeom prst="rect">
            <a:avLst/>
          </a:prstGeom>
          <a:solidFill>
            <a:srgbClr val="C0392B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320040" y="36576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429768" y="4005072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Grau máximo = 2. Rede extremamente fragmentada — consistente com 41 componentes no DFS.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3200400" y="3657600"/>
            <a:ext cx="2651760" cy="1188720"/>
          </a:xfrm>
          <a:prstGeom prst="roundRect">
            <a:avLst>
              <a:gd fmla="val 538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3200400" y="3657600"/>
            <a:ext cx="2651760" cy="320040"/>
          </a:xfrm>
          <a:prstGeom prst="rect">
            <a:avLst/>
          </a:prstGeom>
          <a:solidFill>
            <a:srgbClr val="27AE60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3200400" y="36576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7A40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3310128" y="4005072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VRTA11 com grau 40 — conectado a quase todos os ativos. Forte co-movimento no mercado.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6080760" y="3657600"/>
            <a:ext cx="2651760" cy="1188720"/>
          </a:xfrm>
          <a:prstGeom prst="roundRect">
            <a:avLst>
              <a:gd fmla="val 538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6080760" y="3657600"/>
            <a:ext cx="2651760" cy="320040"/>
          </a:xfrm>
          <a:prstGeom prst="rect">
            <a:avLst/>
          </a:prstGeom>
          <a:solidFill>
            <a:srgbClr val="E67E22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6080760" y="36576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540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0540E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6190488" y="4005072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VISC11 lidera com grau 15. Redução expressiva em relação a 2024, refletindo os 15 componentes do DFS.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 txBox="1"/>
          <p:nvPr/>
        </p:nvSpPr>
        <p:spPr>
          <a:xfrm>
            <a:off x="3375000" y="180600"/>
            <a:ext cx="23940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</a:rPr>
              <a:t>2023</a:t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id="364" name="Google Shape;3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838" y="1088775"/>
            <a:ext cx="2114324" cy="402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 txBox="1"/>
          <p:nvPr/>
        </p:nvSpPr>
        <p:spPr>
          <a:xfrm>
            <a:off x="3375000" y="180600"/>
            <a:ext cx="23940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</a:rPr>
              <a:t>2024</a:t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id="382" name="Google Shape;3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575" y="1140900"/>
            <a:ext cx="3924852" cy="390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3375000" y="180600"/>
            <a:ext cx="23940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</a:rPr>
              <a:t>2025</a:t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id="400" name="Google Shape;4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9963" y="1083475"/>
            <a:ext cx="3124075" cy="391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B77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"/>
          <p:cNvSpPr/>
          <p:nvPr/>
        </p:nvSpPr>
        <p:spPr>
          <a:xfrm>
            <a:off x="457200" y="365760"/>
            <a:ext cx="8229600" cy="4480560"/>
          </a:xfrm>
          <a:prstGeom prst="roundRect">
            <a:avLst>
              <a:gd fmla="val 204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3"/>
          <p:cNvSpPr/>
          <p:nvPr/>
        </p:nvSpPr>
        <p:spPr>
          <a:xfrm>
            <a:off x="685800" y="45720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/>
          <p:nvPr/>
        </p:nvSpPr>
        <p:spPr>
          <a:xfrm>
            <a:off x="685800" y="1024128"/>
            <a:ext cx="77724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658368" y="1143000"/>
            <a:ext cx="1005840" cy="566928"/>
          </a:xfrm>
          <a:prstGeom prst="roundRect">
            <a:avLst>
              <a:gd fmla="val 9677" name="adj"/>
            </a:avLst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658368" y="114300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1737360" y="1179576"/>
            <a:ext cx="6629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2023: rede fragmentada (41 comp.) — período de incerteza. 2024: forte integração (5 comp.) — co-movimento intenso. 2025: reorganização intermediária (15 comp.).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658368" y="1901952"/>
            <a:ext cx="1005840" cy="566928"/>
          </a:xfrm>
          <a:prstGeom prst="roundRect">
            <a:avLst>
              <a:gd fmla="val 9677" name="adj"/>
            </a:avLst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658368" y="1901952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1737360" y="1938528"/>
            <a:ext cx="6629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A MST via Kruskal confirmou que fundos do mesmo segmento mantêm proximidade topológica mesmo após eliminação de arestas redundantes.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658368" y="2660904"/>
            <a:ext cx="1005840" cy="566928"/>
          </a:xfrm>
          <a:prstGeom prst="roundRect">
            <a:avLst>
              <a:gd fmla="val 9677" name="adj"/>
            </a:avLst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3"/>
          <p:cNvSpPr/>
          <p:nvPr/>
        </p:nvSpPr>
        <p:spPr>
          <a:xfrm>
            <a:off x="658368" y="2660904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Dijkstra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1737360" y="2697480"/>
            <a:ext cx="6629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Em 2024 o caminho GGRC11→HSML11 tornou-se direto (custo 0,69). Em 2025 exigiu intermediários, evidenciando reorganização estrutural.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658368" y="3419856"/>
            <a:ext cx="1005840" cy="566928"/>
          </a:xfrm>
          <a:prstGeom prst="roundRect">
            <a:avLst>
              <a:gd fmla="val 9677" name="adj"/>
            </a:avLst>
          </a:prstGeom>
          <a:solidFill>
            <a:srgbClr val="006B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3"/>
          <p:cNvSpPr/>
          <p:nvPr/>
        </p:nvSpPr>
        <p:spPr>
          <a:xfrm>
            <a:off x="658368" y="3419856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1737360" y="3456432"/>
            <a:ext cx="6629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D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E3D40"/>
                </a:solidFill>
                <a:latin typeface="Calibri"/>
                <a:ea typeface="Calibri"/>
                <a:cs typeface="Calibri"/>
                <a:sym typeface="Calibri"/>
              </a:rPr>
              <a:t>VRTA11.SA foi o ativo mais central de 2024 (grau 40). VISC11.SA liderou 2025 (grau 15), indicando mudança nos hubs da rede.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658368" y="4206240"/>
            <a:ext cx="7818120" cy="201168"/>
          </a:xfrm>
          <a:prstGeom prst="roundRect">
            <a:avLst>
              <a:gd fmla="val 22727" name="adj"/>
            </a:avLst>
          </a:prstGeom>
          <a:solidFill>
            <a:srgbClr val="006B77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3"/>
          <p:cNvSpPr/>
          <p:nvPr/>
        </p:nvSpPr>
        <p:spPr>
          <a:xfrm>
            <a:off x="685800" y="42062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6B77"/>
                </a:solidFill>
                <a:latin typeface="Calibri"/>
                <a:ea typeface="Calibri"/>
                <a:cs typeface="Calibri"/>
                <a:sym typeface="Calibri"/>
              </a:rPr>
              <a:t>CMAC03 – Algoritmos em Grafos  |  Prof. Rafael Frinhani  |  UNIFEI – IMC – 2026   ·   Brayan · Caio · Clara · Gabriel · Matheus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